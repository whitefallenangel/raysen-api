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8" r:id="rId1"/>
  </p:sldMasterIdLst>
  <p:notesMasterIdLst>
    <p:notesMasterId r:id="rId18"/>
  </p:notesMasterIdLst>
  <p:sldIdLst>
    <p:sldId id="256" r:id="rId2"/>
    <p:sldId id="257" r:id="rId3"/>
    <p:sldId id="293" r:id="rId4"/>
    <p:sldId id="294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9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343" autoAdjust="0"/>
  </p:normalViewPr>
  <p:slideViewPr>
    <p:cSldViewPr snapToGrid="0">
      <p:cViewPr varScale="1">
        <p:scale>
          <a:sx n="109" d="100"/>
          <a:sy n="109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C4120-110E-4591-BDA2-BFA0E1D9A316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774EB-F3F6-4345-BCFB-63BA84F4AF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21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B774EB-F3F6-4345-BCFB-63BA84F4AFD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59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79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8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49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414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968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74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27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6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26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707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9986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518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0699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67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523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54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2E785-C67C-4236-AA81-2F599AF509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53F5521-A539-4B76-903C-679B7EEE9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08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  <p:sldLayoutId id="2147484030" r:id="rId12"/>
    <p:sldLayoutId id="2147484031" r:id="rId13"/>
    <p:sldLayoutId id="2147484032" r:id="rId14"/>
    <p:sldLayoutId id="2147484033" r:id="rId15"/>
    <p:sldLayoutId id="21474840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t.eliseeva@ukt.s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232224"/>
            <a:ext cx="10691811" cy="1030519"/>
          </a:xfrm>
        </p:spPr>
        <p:txBody>
          <a:bodyPr>
            <a:noAutofit/>
          </a:bodyPr>
          <a:lstStyle/>
          <a:p>
            <a:pPr algn="ctr"/>
            <a:r>
              <a:rPr lang="ru-RU" sz="2350" b="1" dirty="0" smtClean="0"/>
              <a:t>Московская </a:t>
            </a:r>
            <a:r>
              <a:rPr lang="ru-RU" sz="2350" b="1" dirty="0"/>
              <a:t>область, Егорьевский р-н, городское поселение Егорьевск, г. Егорьевск, Промышленная ул., д. 1.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673" y="1313697"/>
            <a:ext cx="6262864" cy="5371508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174171" y="2525674"/>
            <a:ext cx="5471886" cy="415953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ru-RU" sz="2600" b="1" dirty="0" smtClean="0">
                <a:solidFill>
                  <a:schemeClr val="accent2">
                    <a:lumMod val="75000"/>
                  </a:schemeClr>
                </a:solidFill>
              </a:rPr>
              <a:t>Производственно-складской комплекс 8753,3 м2</a:t>
            </a:r>
          </a:p>
          <a:p>
            <a:pPr marL="0" indent="0" algn="r">
              <a:buNone/>
            </a:pPr>
            <a:r>
              <a:rPr lang="ru-RU" sz="2600" b="1" dirty="0" smtClean="0">
                <a:solidFill>
                  <a:schemeClr val="accent2">
                    <a:lumMod val="75000"/>
                  </a:schemeClr>
                </a:solidFill>
              </a:rPr>
              <a:t>Железнодорожный подъездной путь, </a:t>
            </a:r>
          </a:p>
          <a:p>
            <a:pPr marL="0" indent="0" algn="r">
              <a:buNone/>
            </a:pPr>
            <a:r>
              <a:rPr lang="ru-RU" sz="2600" b="1" dirty="0" smtClean="0">
                <a:solidFill>
                  <a:schemeClr val="accent2">
                    <a:lumMod val="75000"/>
                  </a:schemeClr>
                </a:solidFill>
              </a:rPr>
              <a:t>Площадка под развитие.</a:t>
            </a:r>
          </a:p>
          <a:p>
            <a:pPr marL="0" indent="0" algn="r">
              <a:buNone/>
            </a:pPr>
            <a:endParaRPr lang="ru-RU" sz="2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r">
              <a:buNone/>
            </a:pPr>
            <a:endParaRPr lang="ru-RU" sz="26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2600" b="1" dirty="0" smtClean="0">
                <a:solidFill>
                  <a:schemeClr val="accent2">
                    <a:lumMod val="75000"/>
                  </a:schemeClr>
                </a:solidFill>
              </a:rPr>
              <a:t>Аренда</a:t>
            </a:r>
            <a:endParaRPr lang="ru-RU" sz="2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955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03587" y="562708"/>
            <a:ext cx="5091384" cy="905052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	</a:t>
            </a:r>
            <a:r>
              <a:rPr lang="ru-RU" sz="3100" b="1" dirty="0"/>
              <a:t>Расположение.</a:t>
            </a:r>
            <a:r>
              <a:rPr lang="ru-RU" sz="2400" dirty="0"/>
              <a:t/>
            </a:r>
            <a:br>
              <a:rPr lang="ru-RU" sz="2400" dirty="0"/>
            </a:br>
            <a:endParaRPr lang="ru-RU" sz="20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90747" cy="6858000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7092232" y="1454146"/>
            <a:ext cx="5001253" cy="5399316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Комплекс 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расположен на юго-востоке Московской области, в 90 километрах от МКАД и в 16 километрах от Московского Большого Кольца (А-108) в черте г. Егорьевск</a:t>
            </a: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0" indent="0" algn="r">
              <a:buNone/>
            </a:pPr>
            <a:endParaRPr lang="ru-RU" b="1" i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ru-RU" sz="2100" b="1" i="1" dirty="0" smtClean="0">
                <a:solidFill>
                  <a:schemeClr val="accent2">
                    <a:lumMod val="75000"/>
                  </a:schemeClr>
                </a:solidFill>
              </a:rPr>
              <a:t>Удобные подъездные пути для а/м класса «</a:t>
            </a:r>
            <a:r>
              <a:rPr lang="ru-RU" sz="2100" b="1" i="1" dirty="0" err="1" smtClean="0">
                <a:solidFill>
                  <a:schemeClr val="accent2">
                    <a:lumMod val="75000"/>
                  </a:schemeClr>
                </a:solidFill>
              </a:rPr>
              <a:t>Еврофура</a:t>
            </a:r>
            <a:r>
              <a:rPr lang="ru-RU" sz="2100" b="1" i="1" dirty="0" smtClean="0">
                <a:solidFill>
                  <a:schemeClr val="accent2">
                    <a:lumMod val="75000"/>
                  </a:schemeClr>
                </a:solidFill>
              </a:rPr>
              <a:t>».</a:t>
            </a:r>
          </a:p>
          <a:p>
            <a:pPr marL="0" indent="0" algn="r">
              <a:buNone/>
            </a:pPr>
            <a:r>
              <a:rPr lang="ru-RU" sz="2100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indent="0" algn="r">
              <a:buNone/>
            </a:pP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ru-RU" b="1" i="1" u="sng" dirty="0" smtClean="0">
                <a:solidFill>
                  <a:schemeClr val="accent2">
                    <a:lumMod val="75000"/>
                  </a:schemeClr>
                </a:solidFill>
              </a:rPr>
              <a:t>Схема </a:t>
            </a:r>
            <a:r>
              <a:rPr lang="ru-RU" b="1" i="1" u="sng" dirty="0">
                <a:solidFill>
                  <a:schemeClr val="accent2">
                    <a:lumMod val="75000"/>
                  </a:schemeClr>
                </a:solidFill>
              </a:rPr>
              <a:t>проезда из Москвы: </a:t>
            </a:r>
            <a:endParaRPr lang="ru-RU" b="1" i="1" u="sng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По 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Егорьевскому шоссе, через </a:t>
            </a: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Люберцы.  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Или по </a:t>
            </a:r>
            <a:r>
              <a:rPr lang="ru-RU" b="1" i="1" dirty="0" err="1">
                <a:solidFill>
                  <a:schemeClr val="accent2">
                    <a:lumMod val="75000"/>
                  </a:schemeClr>
                </a:solidFill>
              </a:rPr>
              <a:t>Новорязанскому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 шоссе через Октябрьский</a:t>
            </a: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, Бронницы.  </a:t>
            </a:r>
          </a:p>
          <a:p>
            <a:pPr marL="0" indent="0" algn="r">
              <a:buNone/>
            </a:pP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</a:rPr>
              <a:t>	Уже 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в Егорьевске по улицам Советской, Профсоюзной, </a:t>
            </a:r>
            <a:r>
              <a:rPr lang="ru-RU" b="1" i="1" dirty="0" err="1">
                <a:solidFill>
                  <a:schemeClr val="accent2">
                    <a:lumMod val="75000"/>
                  </a:schemeClr>
                </a:solidFill>
              </a:rPr>
              <a:t>Броницкой</a:t>
            </a: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 и, наконец, Промышленной. </a:t>
            </a:r>
            <a:r>
              <a:rPr lang="ru-RU" sz="1600" b="1" i="1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ru-RU" sz="1600" b="1" i="1" dirty="0">
                <a:solidFill>
                  <a:schemeClr val="accent2">
                    <a:lumMod val="75000"/>
                  </a:schemeClr>
                </a:solidFill>
              </a:rPr>
            </a:br>
            <a:endParaRPr lang="ru-RU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35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986" y="1"/>
            <a:ext cx="6524107" cy="5007428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45942" y="449943"/>
            <a:ext cx="5132840" cy="2610984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ru-RU" sz="1900" b="1" dirty="0" smtClean="0">
                <a:solidFill>
                  <a:schemeClr val="accent2">
                    <a:lumMod val="75000"/>
                  </a:schemeClr>
                </a:solidFill>
              </a:rPr>
              <a:t>Производственно-складской комплекс расположен в 55 км от ЦКАД,</a:t>
            </a:r>
          </a:p>
          <a:p>
            <a:pPr marL="0" indent="0" algn="r">
              <a:buNone/>
            </a:pPr>
            <a:r>
              <a:rPr lang="ru-RU" sz="1900" b="1" u="sng" dirty="0" smtClean="0">
                <a:solidFill>
                  <a:schemeClr val="accent2">
                    <a:lumMod val="75000"/>
                  </a:schemeClr>
                </a:solidFill>
              </a:rPr>
              <a:t>Схема проезда от ЦКАД:</a:t>
            </a:r>
          </a:p>
          <a:p>
            <a:pPr marL="0" indent="0" algn="r">
              <a:buNone/>
            </a:pPr>
            <a:r>
              <a:rPr lang="ru-RU" sz="1900" b="1" dirty="0" smtClean="0">
                <a:solidFill>
                  <a:schemeClr val="accent2">
                    <a:lumMod val="75000"/>
                  </a:schemeClr>
                </a:solidFill>
              </a:rPr>
              <a:t>По Егорьевскому шоссе через Гжель </a:t>
            </a:r>
          </a:p>
          <a:p>
            <a:pPr marL="0" indent="0" algn="r">
              <a:buNone/>
            </a:pPr>
            <a:r>
              <a:rPr lang="ru-RU" sz="1900" b="1" dirty="0" smtClean="0">
                <a:solidFill>
                  <a:schemeClr val="accent2">
                    <a:lumMod val="75000"/>
                  </a:schemeClr>
                </a:solidFill>
              </a:rPr>
              <a:t>или по </a:t>
            </a:r>
            <a:r>
              <a:rPr lang="ru-RU" sz="1900" b="1" dirty="0" err="1" smtClean="0">
                <a:solidFill>
                  <a:schemeClr val="accent2">
                    <a:lumMod val="75000"/>
                  </a:schemeClr>
                </a:solidFill>
              </a:rPr>
              <a:t>Новорязанскому</a:t>
            </a:r>
            <a:r>
              <a:rPr lang="ru-RU" sz="19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1900" b="1" dirty="0">
                <a:solidFill>
                  <a:schemeClr val="accent2">
                    <a:lumMod val="75000"/>
                  </a:schemeClr>
                </a:solidFill>
              </a:rPr>
              <a:t>ш</a:t>
            </a:r>
            <a:r>
              <a:rPr lang="ru-RU" sz="1900" b="1" dirty="0" smtClean="0">
                <a:solidFill>
                  <a:schemeClr val="accent2">
                    <a:lumMod val="75000"/>
                  </a:schemeClr>
                </a:solidFill>
              </a:rPr>
              <a:t>оссе через Воскресенск.</a:t>
            </a:r>
            <a:endParaRPr lang="ru-RU" sz="19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629" y="2699657"/>
            <a:ext cx="6473371" cy="415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61828" y="957944"/>
            <a:ext cx="3730171" cy="464457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Путь из Серпухова в Егорьевск  составляет 130 км.</a:t>
            </a:r>
          </a:p>
          <a:p>
            <a:pPr marL="0" indent="0" algn="r">
              <a:buNone/>
            </a:pPr>
            <a:r>
              <a:rPr lang="ru-RU" b="1" u="sng" dirty="0" smtClean="0">
                <a:solidFill>
                  <a:schemeClr val="accent2">
                    <a:lumMod val="75000"/>
                  </a:schemeClr>
                </a:solidFill>
              </a:rPr>
              <a:t>Схема проезда из г. Серпухов в г. Егорьевск:</a:t>
            </a:r>
          </a:p>
          <a:p>
            <a:pPr marL="0" indent="0" algn="r">
              <a:buNone/>
            </a:pP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По Симферопольскому шоссе через п. </a:t>
            </a:r>
            <a:r>
              <a:rPr lang="ru-RU" b="1" dirty="0" err="1" smtClean="0">
                <a:solidFill>
                  <a:schemeClr val="accent2">
                    <a:lumMod val="75000"/>
                  </a:schemeClr>
                </a:solidFill>
              </a:rPr>
              <a:t>Плешкино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, далее по </a:t>
            </a:r>
            <a:r>
              <a:rPr lang="ru-RU" b="1" dirty="0" err="1" smtClean="0">
                <a:solidFill>
                  <a:schemeClr val="accent2">
                    <a:lumMod val="75000"/>
                  </a:schemeClr>
                </a:solidFill>
              </a:rPr>
              <a:t>Егорьевскомушоссе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 через п. </a:t>
            </a:r>
            <a:r>
              <a:rPr lang="ru-RU" b="1" dirty="0" err="1" smtClean="0">
                <a:solidFill>
                  <a:schemeClr val="accent2">
                    <a:lumMod val="75000"/>
                  </a:schemeClr>
                </a:solidFill>
              </a:rPr>
              <a:t>Пичурино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или</a:t>
            </a:r>
          </a:p>
          <a:p>
            <a:pPr marL="0" indent="0" algn="r">
              <a:buNone/>
            </a:pP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по 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Симферопольскому 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шоссе  с выездом на ЦКАД, и далее по </a:t>
            </a:r>
            <a:r>
              <a:rPr lang="ru-RU" b="1" dirty="0" err="1" smtClean="0">
                <a:solidFill>
                  <a:schemeClr val="accent2">
                    <a:lumMod val="75000"/>
                  </a:schemeClr>
                </a:solidFill>
              </a:rPr>
              <a:t>Новорязанскому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 шоссе через Воскресенск или п. </a:t>
            </a:r>
            <a:r>
              <a:rPr lang="ru-RU" b="1" dirty="0" err="1" smtClean="0">
                <a:solidFill>
                  <a:schemeClr val="accent2">
                    <a:lumMod val="75000"/>
                  </a:schemeClr>
                </a:solidFill>
              </a:rPr>
              <a:t>Лопатино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96242" cy="358502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887" y="2581687"/>
            <a:ext cx="7053942" cy="42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8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8268" y="176265"/>
            <a:ext cx="3505199" cy="843066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Общие сведения</a:t>
            </a:r>
            <a:r>
              <a:rPr lang="ru-RU" sz="2800" dirty="0"/>
              <a:t>.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833" y="1588956"/>
            <a:ext cx="7135318" cy="4766873"/>
          </a:xfrm>
        </p:spPr>
      </p:pic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404446" y="1230923"/>
            <a:ext cx="4422387" cy="5627077"/>
          </a:xfrm>
        </p:spPr>
        <p:txBody>
          <a:bodyPr>
            <a:normAutofit fontScale="92500" lnSpcReduction="20000"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Общая площадь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участка 40 000 </a:t>
            </a:r>
            <a:r>
              <a:rPr lang="ru-RU" sz="2400" dirty="0" err="1">
                <a:solidFill>
                  <a:schemeClr val="accent2">
                    <a:lumMod val="75000"/>
                  </a:schemeClr>
                </a:solidFill>
              </a:rPr>
              <a:t>кв.м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., в том 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числе: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</a:rPr>
              <a:t>Территория необходимая для эксплуатации комплекса 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24 000 </a:t>
            </a:r>
            <a:r>
              <a:rPr lang="ru-RU" sz="2400" dirty="0" err="1" smtClean="0">
                <a:solidFill>
                  <a:schemeClr val="accent2">
                    <a:lumMod val="75000"/>
                  </a:schemeClr>
                </a:solidFill>
              </a:rPr>
              <a:t>кв.м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., удобна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для маневрирования большегрузных 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автомобилей.</a:t>
            </a:r>
          </a:p>
          <a:p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</a:rPr>
              <a:t>(Площадь 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застройки 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8545 </a:t>
            </a:r>
            <a:r>
              <a:rPr lang="ru-RU" sz="2400" dirty="0" err="1">
                <a:solidFill>
                  <a:schemeClr val="accent2">
                    <a:lumMod val="75000"/>
                  </a:schemeClr>
                </a:solidFill>
              </a:rPr>
              <a:t>кв.м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.)</a:t>
            </a:r>
          </a:p>
          <a:p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</a:rPr>
              <a:t>Площадь 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под развитие </a:t>
            </a:r>
            <a:endParaRPr lang="ru-RU" sz="24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16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000 </a:t>
            </a:r>
            <a:r>
              <a:rPr lang="ru-RU" sz="2400" dirty="0" err="1">
                <a:solidFill>
                  <a:schemeClr val="accent2">
                    <a:lumMod val="75000"/>
                  </a:schemeClr>
                </a:solidFill>
              </a:rPr>
              <a:t>кв.м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  <a:p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</a:rPr>
              <a:t>Инженерные 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</a:rPr>
              <a:t>сети:</a:t>
            </a:r>
          </a:p>
          <a:p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Электроснабжение водопровод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endParaRPr lang="ru-RU" sz="24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канализация. 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48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19585" y="0"/>
            <a:ext cx="8458539" cy="69316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Описание объекта.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29390" y="775611"/>
            <a:ext cx="10992785" cy="3252865"/>
          </a:xfrm>
        </p:spPr>
        <p:txBody>
          <a:bodyPr>
            <a:noAutofit/>
          </a:bodyPr>
          <a:lstStyle/>
          <a:p>
            <a:pPr algn="just"/>
            <a:r>
              <a:rPr lang="ru-RU" sz="2100" dirty="0">
                <a:solidFill>
                  <a:schemeClr val="accent2">
                    <a:lumMod val="75000"/>
                  </a:schemeClr>
                </a:solidFill>
              </a:rPr>
              <a:t>	  </a:t>
            </a:r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Объект является бывшим Егорьевским </a:t>
            </a:r>
            <a:r>
              <a:rPr lang="ru-RU" sz="21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хладотерминалом</a:t>
            </a:r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, представляет собой производственно-складской комплекс. Год постройки 1984 г. </a:t>
            </a:r>
          </a:p>
          <a:p>
            <a:pPr algn="just"/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          Общая емкость хранения составляет 5000т в сутки. </a:t>
            </a:r>
            <a:r>
              <a:rPr lang="ru-RU" sz="21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Склад включает </a:t>
            </a:r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в себя 14 </a:t>
            </a:r>
            <a:r>
              <a:rPr lang="ru-RU" sz="21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камер </a:t>
            </a:r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емкостью от 60 до 800 тонн площадью от 72 до 576м2 высотой складирования 5 </a:t>
            </a:r>
            <a:r>
              <a:rPr lang="ru-RU" sz="21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метров. </a:t>
            </a:r>
            <a:endParaRPr lang="ru-RU" sz="21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algn="just"/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	  Предприятие имеет удобные подъездные пути, железнодорожную и автомобильную эстакады. Прием/отгрузка продукции выполняется с автомобильной рампы на 8 мест и в закрытых железнодорожных дебаркадерах с длиной фронта погрузки\выгрузки </a:t>
            </a:r>
            <a:r>
              <a:rPr lang="ru-RU" sz="21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4 </a:t>
            </a:r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вагонов.  </a:t>
            </a:r>
          </a:p>
          <a:p>
            <a:pPr algn="just"/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	  Хладокомбинат имеет собственные железнодорожные пути общей протяженностью                </a:t>
            </a:r>
            <a:r>
              <a:rPr lang="ru-RU" sz="21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2500 метров</a:t>
            </a:r>
            <a:r>
              <a:rPr lang="ru-RU" sz="2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. </a:t>
            </a:r>
          </a:p>
          <a:p>
            <a:pPr algn="just"/>
            <a:r>
              <a:rPr lang="ru-RU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algn="just"/>
            <a:r>
              <a:rPr lang="ru-RU" sz="2000" dirty="0">
                <a:solidFill>
                  <a:schemeClr val="accent2">
                    <a:lumMod val="75000"/>
                  </a:schemeClr>
                </a:solidFill>
              </a:rPr>
              <a:t>	 </a:t>
            </a:r>
          </a:p>
          <a:p>
            <a:pPr algn="ctr"/>
            <a:endParaRPr lang="ru-RU" sz="2000" dirty="0"/>
          </a:p>
          <a:p>
            <a:pPr algn="ctr"/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109" y="4264269"/>
            <a:ext cx="4472066" cy="25937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0" y="4264269"/>
            <a:ext cx="5551861" cy="25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6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583" y="413238"/>
            <a:ext cx="8911687" cy="74100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Информация по объекту.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64930" y="1439055"/>
            <a:ext cx="5363307" cy="4976735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ru-RU" sz="1900" dirty="0" smtClean="0">
                <a:solidFill>
                  <a:schemeClr val="accent2">
                    <a:lumMod val="75000"/>
                  </a:schemeClr>
                </a:solidFill>
              </a:rPr>
              <a:t>Складской 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корпус </a:t>
            </a:r>
            <a:r>
              <a:rPr lang="ru-RU" sz="1900" dirty="0" smtClean="0">
                <a:solidFill>
                  <a:schemeClr val="accent2">
                    <a:lumMod val="75000"/>
                  </a:schemeClr>
                </a:solidFill>
              </a:rPr>
              <a:t>4032 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м2 (14 </a:t>
            </a:r>
            <a:r>
              <a:rPr lang="ru-RU" sz="1900" dirty="0" smtClean="0">
                <a:solidFill>
                  <a:schemeClr val="accent2">
                    <a:lumMod val="75000"/>
                  </a:schemeClr>
                </a:solidFill>
              </a:rPr>
              <a:t>камер)</a:t>
            </a:r>
          </a:p>
          <a:p>
            <a:pPr>
              <a:buFontTx/>
              <a:buChar char="-"/>
            </a:pPr>
            <a:r>
              <a:rPr lang="ru-RU" sz="1900" dirty="0" smtClean="0">
                <a:solidFill>
                  <a:schemeClr val="accent2">
                    <a:lumMod val="75000"/>
                  </a:schemeClr>
                </a:solidFill>
              </a:rPr>
              <a:t>Площадь под производство 2000 м2 </a:t>
            </a:r>
            <a:endParaRPr lang="ru-RU" sz="19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</a:t>
            </a:r>
            <a:r>
              <a:rPr lang="ru-RU" sz="1900" dirty="0" smtClean="0">
                <a:solidFill>
                  <a:schemeClr val="accent2">
                    <a:lumMod val="75000"/>
                  </a:schemeClr>
                </a:solidFill>
              </a:rPr>
              <a:t>Ангар 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510,3 м2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Административный корпус 1262 м2.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Весовые </a:t>
            </a:r>
            <a:r>
              <a:rPr lang="ru-RU" sz="1900" dirty="0" smtClean="0">
                <a:solidFill>
                  <a:schemeClr val="accent2">
                    <a:lumMod val="75000"/>
                  </a:schemeClr>
                </a:solidFill>
              </a:rPr>
              <a:t>212,8 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м2.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Гараж 110 м2.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Железнодорожная ветка  2500 м.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Площадь под развитие 1,6 Га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-	Полы: 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</a:rPr>
              <a:t>антипыль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, нагрузка 6 тонн/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</a:rPr>
              <a:t>кв.м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>
              <a:buFontTx/>
              <a:buChar char="-"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Электрическая мощность: </a:t>
            </a:r>
          </a:p>
          <a:p>
            <a:pPr marL="0" indent="0"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</a:rPr>
              <a:t>1260 кВт.</a:t>
            </a:r>
          </a:p>
        </p:txBody>
      </p:sp>
      <p:pic>
        <p:nvPicPr>
          <p:cNvPr id="11" name="Объект 4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438275"/>
            <a:ext cx="5981700" cy="4692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5038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169" y="368970"/>
            <a:ext cx="9448799" cy="561473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Главный производственный комплекс.</a:t>
            </a:r>
            <a:r>
              <a:rPr lang="ru-RU" sz="2800" dirty="0"/>
              <a:t> </a:t>
            </a:r>
            <a:endParaRPr lang="ru-RU" sz="2800" b="1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92" y="1475874"/>
            <a:ext cx="2975943" cy="2005263"/>
          </a:xfrm>
        </p:spPr>
      </p:pic>
      <p:pic>
        <p:nvPicPr>
          <p:cNvPr id="10" name="Объект 9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91" y="4219073"/>
            <a:ext cx="2975943" cy="1989221"/>
          </a:xfr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422" y="1999963"/>
            <a:ext cx="4488576" cy="376717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926" y="1999963"/>
            <a:ext cx="4231905" cy="376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1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3514" y="0"/>
            <a:ext cx="8911687" cy="56011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Склады для товара.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59" y="501631"/>
            <a:ext cx="4183612" cy="2759098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40170" y="1952173"/>
            <a:ext cx="5138060" cy="3294742"/>
          </a:xfrm>
        </p:spPr>
      </p:pic>
      <p:pic>
        <p:nvPicPr>
          <p:cNvPr id="9" name="Объект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59" y="3463234"/>
            <a:ext cx="4183612" cy="3133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71" y="501631"/>
            <a:ext cx="3860800" cy="275909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71" y="3463234"/>
            <a:ext cx="3860800" cy="31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5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5996" y="199071"/>
            <a:ext cx="8911687" cy="599606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Административный комплекс.</a:t>
            </a:r>
          </a:p>
        </p:txBody>
      </p:sp>
      <p:pic>
        <p:nvPicPr>
          <p:cNvPr id="6" name="Объект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70068" y="3639424"/>
            <a:ext cx="3179290" cy="3257862"/>
          </a:xfrm>
        </p:spPr>
      </p:pic>
      <p:pic>
        <p:nvPicPr>
          <p:cNvPr id="7" name="Объект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24" y="798679"/>
            <a:ext cx="4407510" cy="3126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23" y="3925679"/>
            <a:ext cx="4407511" cy="292482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644" y="3678710"/>
            <a:ext cx="4103357" cy="317929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683873A-3F77-40DE-BB65-B998F0998D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658" y="798677"/>
            <a:ext cx="2897343" cy="288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5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8762" y="174549"/>
            <a:ext cx="8911687" cy="66216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Весовая и распределительные пункты.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8231B06-22B6-437F-BB7B-B58EDEF6B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469" y="2133600"/>
            <a:ext cx="6716888" cy="3778250"/>
          </a:xfrm>
          <a:prstGeom prst="rect">
            <a:avLst/>
          </a:prstGeom>
        </p:spPr>
      </p:pic>
      <p:pic>
        <p:nvPicPr>
          <p:cNvPr id="5" name="Picture 2" descr="Y:\АРЕНДА\Козырева\Планы БТИ и Экспликации ФОТО\ЕХТ\AhqlK1As-aQ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804" y="755634"/>
            <a:ext cx="6123601" cy="3046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Объект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31" y="3927422"/>
            <a:ext cx="4597234" cy="293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46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79112" y="339297"/>
            <a:ext cx="8911687" cy="36524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100" b="1" dirty="0"/>
              <a:t>Гараж</a:t>
            </a:r>
            <a:r>
              <a:rPr lang="ru-RU" b="1" dirty="0"/>
              <a:t>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44" y="1369101"/>
            <a:ext cx="4866629" cy="4402111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790" y="1369102"/>
            <a:ext cx="5066676" cy="440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75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3299" y="390579"/>
            <a:ext cx="8911687" cy="53013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Железнодорожная ветка.</a:t>
            </a:r>
          </a:p>
        </p:txBody>
      </p:sp>
      <p:pic>
        <p:nvPicPr>
          <p:cNvPr id="11" name="Объект 10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447" y="1349113"/>
            <a:ext cx="3609750" cy="4886510"/>
          </a:xfrm>
        </p:spPr>
      </p:pic>
      <p:pic>
        <p:nvPicPr>
          <p:cNvPr id="15" name="Picture 2" descr="Y:\АРЕНДА\Козырева\Планы БТИ и Экспликации ФОТО\ЕХТ\IXlwxaB7NW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243" y="1349113"/>
            <a:ext cx="3376875" cy="4886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29" y="1349112"/>
            <a:ext cx="3439885" cy="488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6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0608" y="64168"/>
            <a:ext cx="8911687" cy="741419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Территория.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19" y="741420"/>
            <a:ext cx="4313237" cy="2912698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046" y="741419"/>
            <a:ext cx="4313238" cy="2912699"/>
          </a:xfr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19" y="3781715"/>
            <a:ext cx="4313237" cy="30762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046" y="3788228"/>
            <a:ext cx="4313238" cy="306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7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7576" y="200428"/>
            <a:ext cx="5735922" cy="563846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Площадь под развитие.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42" y="962526"/>
            <a:ext cx="8559539" cy="4994721"/>
          </a:xfrm>
        </p:spPr>
      </p:pic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79070" y="1107831"/>
            <a:ext cx="3669628" cy="5257800"/>
          </a:xfrm>
        </p:spPr>
        <p:txBody>
          <a:bodyPr>
            <a:normAutofit fontScale="92500"/>
          </a:bodyPr>
          <a:lstStyle/>
          <a:p>
            <a:pPr algn="r"/>
            <a:r>
              <a:rPr lang="ru-RU" sz="1800" b="1" dirty="0">
                <a:solidFill>
                  <a:schemeClr val="accent2">
                    <a:lumMod val="75000"/>
                  </a:schemeClr>
                </a:solidFill>
              </a:rPr>
              <a:t>Условные обозначения</a:t>
            </a:r>
            <a:r>
              <a:rPr lang="ru-RU" sz="1800" b="1" dirty="0" smtClean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r>
              <a:rPr lang="ru-RU" sz="1800" b="1" dirty="0" smtClean="0">
                <a:solidFill>
                  <a:srgbClr val="92D050"/>
                </a:solidFill>
              </a:rPr>
              <a:t>ВАКАНТНО</a:t>
            </a:r>
            <a:endParaRPr lang="ru-RU" sz="1800" b="1" dirty="0">
              <a:solidFill>
                <a:srgbClr val="92D050"/>
              </a:solidFill>
            </a:endParaRPr>
          </a:p>
          <a:p>
            <a:r>
              <a:rPr lang="ru-RU" sz="1800" dirty="0">
                <a:solidFill>
                  <a:schemeClr val="accent2">
                    <a:lumMod val="75000"/>
                  </a:schemeClr>
                </a:solidFill>
              </a:rPr>
              <a:t>1. Складской корпус 4032 м2 (14 камер</a:t>
            </a:r>
            <a:r>
              <a:rPr lang="ru-RU" sz="1800" dirty="0" smtClean="0">
                <a:solidFill>
                  <a:schemeClr val="accent2">
                    <a:lumMod val="75000"/>
                  </a:schemeClr>
                </a:solidFill>
              </a:rPr>
              <a:t>)- </a:t>
            </a:r>
            <a:r>
              <a:rPr lang="ru-RU" sz="1800" dirty="0" smtClean="0">
                <a:solidFill>
                  <a:srgbClr val="92D050"/>
                </a:solidFill>
              </a:rPr>
              <a:t>вакантно 874 м2</a:t>
            </a:r>
            <a:endParaRPr lang="ru-RU" sz="1800" dirty="0">
              <a:solidFill>
                <a:srgbClr val="92D050"/>
              </a:solidFill>
            </a:endParaRPr>
          </a:p>
          <a:p>
            <a:r>
              <a:rPr lang="ru-RU" sz="1800" dirty="0" smtClean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ru-RU" sz="1800" dirty="0" smtClean="0">
                <a:solidFill>
                  <a:schemeClr val="accent2">
                    <a:lumMod val="75000"/>
                  </a:schemeClr>
                </a:solidFill>
              </a:rPr>
              <a:t>Ангар  ( 510,3 </a:t>
            </a:r>
            <a:r>
              <a:rPr lang="ru-RU" sz="1800" dirty="0" err="1" smtClean="0">
                <a:solidFill>
                  <a:schemeClr val="accent2">
                    <a:lumMod val="75000"/>
                  </a:schemeClr>
                </a:solidFill>
              </a:rPr>
              <a:t>кв.м</a:t>
            </a:r>
            <a:r>
              <a:rPr lang="ru-RU" sz="1800" dirty="0" smtClean="0">
                <a:solidFill>
                  <a:schemeClr val="accent2">
                    <a:lumMod val="75000"/>
                  </a:schemeClr>
                </a:solidFill>
              </a:rPr>
              <a:t>.)</a:t>
            </a:r>
            <a:endParaRPr lang="ru-RU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sz="1800" dirty="0">
                <a:solidFill>
                  <a:srgbClr val="92D050"/>
                </a:solidFill>
              </a:rPr>
              <a:t>3. Административный </a:t>
            </a:r>
            <a:r>
              <a:rPr lang="ru-RU" sz="1800" dirty="0" smtClean="0">
                <a:solidFill>
                  <a:srgbClr val="92D050"/>
                </a:solidFill>
              </a:rPr>
              <a:t>корпус 1 262,1 </a:t>
            </a:r>
            <a:r>
              <a:rPr lang="ru-RU" sz="1800" dirty="0" err="1" smtClean="0">
                <a:solidFill>
                  <a:srgbClr val="92D050"/>
                </a:solidFill>
              </a:rPr>
              <a:t>кв.м</a:t>
            </a:r>
            <a:r>
              <a:rPr lang="ru-RU" sz="1800" dirty="0" smtClean="0">
                <a:solidFill>
                  <a:srgbClr val="92D050"/>
                </a:solidFill>
              </a:rPr>
              <a:t>- вакантно</a:t>
            </a:r>
            <a:endParaRPr lang="ru-RU" sz="1800" dirty="0">
              <a:solidFill>
                <a:srgbClr val="92D050"/>
              </a:solidFill>
            </a:endParaRPr>
          </a:p>
          <a:p>
            <a:r>
              <a:rPr lang="ru-RU" sz="1800" dirty="0" smtClean="0">
                <a:solidFill>
                  <a:srgbClr val="92D050"/>
                </a:solidFill>
              </a:rPr>
              <a:t>4. Весовые (212, 8м2</a:t>
            </a:r>
            <a:r>
              <a:rPr lang="ru-RU" sz="1800" dirty="0" smtClean="0">
                <a:solidFill>
                  <a:srgbClr val="92D050"/>
                </a:solidFill>
              </a:rPr>
              <a:t>) вакантно</a:t>
            </a:r>
            <a:endParaRPr lang="ru-RU" sz="1800" dirty="0">
              <a:solidFill>
                <a:srgbClr val="92D050"/>
              </a:solidFill>
            </a:endParaRPr>
          </a:p>
          <a:p>
            <a:r>
              <a:rPr lang="ru-RU" sz="1800" dirty="0" smtClean="0">
                <a:solidFill>
                  <a:srgbClr val="92D050"/>
                </a:solidFill>
              </a:rPr>
              <a:t>5. Гараж 109 8кв.м</a:t>
            </a:r>
            <a:r>
              <a:rPr lang="ru-RU" sz="1800" dirty="0" smtClean="0">
                <a:solidFill>
                  <a:srgbClr val="92D050"/>
                </a:solidFill>
              </a:rPr>
              <a:t>. (вакантно)</a:t>
            </a:r>
            <a:endParaRPr lang="ru-RU" sz="1800" dirty="0">
              <a:solidFill>
                <a:srgbClr val="92D050"/>
              </a:solidFill>
            </a:endParaRPr>
          </a:p>
          <a:p>
            <a:r>
              <a:rPr lang="ru-RU" sz="1800" dirty="0" smtClean="0">
                <a:solidFill>
                  <a:srgbClr val="92D050"/>
                </a:solidFill>
              </a:rPr>
              <a:t>6. Здание насосной 135,5кв.м</a:t>
            </a:r>
            <a:endParaRPr lang="ru-RU" sz="1800" dirty="0">
              <a:solidFill>
                <a:srgbClr val="92D050"/>
              </a:solidFill>
            </a:endParaRPr>
          </a:p>
          <a:p>
            <a:r>
              <a:rPr lang="ru-RU" sz="1800" dirty="0">
                <a:solidFill>
                  <a:srgbClr val="92D050"/>
                </a:solidFill>
              </a:rPr>
              <a:t>7. Площадь под развитие 1,6 </a:t>
            </a:r>
            <a:r>
              <a:rPr lang="ru-RU" sz="1800" dirty="0" smtClean="0">
                <a:solidFill>
                  <a:srgbClr val="92D050"/>
                </a:solidFill>
              </a:rPr>
              <a:t>га</a:t>
            </a:r>
          </a:p>
          <a:p>
            <a:r>
              <a:rPr lang="ru-RU" sz="1800" dirty="0" smtClean="0">
                <a:solidFill>
                  <a:srgbClr val="92D050"/>
                </a:solidFill>
              </a:rPr>
              <a:t>8. Производственные площади 2000 м2</a:t>
            </a:r>
            <a:endParaRPr lang="ru-RU" sz="1800" dirty="0">
              <a:solidFill>
                <a:srgbClr val="92D050"/>
              </a:solidFill>
            </a:endParaRPr>
          </a:p>
          <a:p>
            <a:r>
              <a:rPr lang="ru-RU" sz="1800" dirty="0" smtClean="0">
                <a:solidFill>
                  <a:srgbClr val="92D050"/>
                </a:solidFill>
              </a:rPr>
              <a:t>9. </a:t>
            </a:r>
            <a:r>
              <a:rPr lang="ru-RU" sz="1800" dirty="0">
                <a:solidFill>
                  <a:srgbClr val="92D050"/>
                </a:solidFill>
              </a:rPr>
              <a:t>Железнодорожная </a:t>
            </a:r>
            <a:r>
              <a:rPr lang="ru-RU" sz="1800" dirty="0" smtClean="0">
                <a:solidFill>
                  <a:srgbClr val="92D050"/>
                </a:solidFill>
              </a:rPr>
              <a:t>ветка 2500м</a:t>
            </a:r>
            <a:endParaRPr lang="ru-RU" sz="1800" dirty="0">
              <a:solidFill>
                <a:srgbClr val="92D05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49009" y="2505808"/>
            <a:ext cx="756138" cy="1151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451232" y="3130062"/>
            <a:ext cx="334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8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8247" y="1793631"/>
            <a:ext cx="3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9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34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47384" y="5372099"/>
            <a:ext cx="9718901" cy="1239157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Контактная информация:</a:t>
            </a:r>
          </a:p>
          <a:p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Татьяна</a:t>
            </a:r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тел.: 8 926 011 28 46,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t.eliseeva@ukt.su</a:t>
            </a:r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arenda@ukt.su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569" y="808892"/>
            <a:ext cx="5008685" cy="433460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952392" y="2967335"/>
            <a:ext cx="502571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</a:t>
            </a:r>
            <a:r>
              <a:rPr lang="ru-RU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амеры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870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2579</TotalTime>
  <Words>311</Words>
  <Application>Microsoft Office PowerPoint</Application>
  <PresentationFormat>Широкоэкранный</PresentationFormat>
  <Paragraphs>77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Легкий дым</vt:lpstr>
      <vt:lpstr>Московская область, Егорьевский р-н, городское поселение Егорьевск, г. Егорьевск, Промышленная ул., д. 1. </vt:lpstr>
      <vt:lpstr> Расположение. </vt:lpstr>
      <vt:lpstr>Презентация PowerPoint</vt:lpstr>
      <vt:lpstr>Презентация PowerPoint</vt:lpstr>
      <vt:lpstr>Общие сведения.</vt:lpstr>
      <vt:lpstr>Описание объекта.</vt:lpstr>
      <vt:lpstr>Информация по объекту.</vt:lpstr>
      <vt:lpstr>Главный производственный комплекс. </vt:lpstr>
      <vt:lpstr>Склады для товара.</vt:lpstr>
      <vt:lpstr>Административный комплекс.</vt:lpstr>
      <vt:lpstr>Весовая и распределительные пункты.</vt:lpstr>
      <vt:lpstr>Гараж.</vt:lpstr>
      <vt:lpstr>Железнодорожная ветка.</vt:lpstr>
      <vt:lpstr>Территория.</vt:lpstr>
      <vt:lpstr>Площадь под развитие.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о рабочей поездке на объект, расположенный по адресу: Московская область, Егорьевский р-н, городское поселение Егорьевск, г. Егорьевск, Промышленная ул., д. 1.</dc:title>
  <dc:creator>Диана Полулях</dc:creator>
  <cp:lastModifiedBy>Татьяна Елисеева</cp:lastModifiedBy>
  <cp:revision>237</cp:revision>
  <dcterms:created xsi:type="dcterms:W3CDTF">2021-06-10T09:06:39Z</dcterms:created>
  <dcterms:modified xsi:type="dcterms:W3CDTF">2025-04-14T07:34:55Z</dcterms:modified>
</cp:coreProperties>
</file>